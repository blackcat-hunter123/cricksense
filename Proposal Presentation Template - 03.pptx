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3" r:id="rId17"/>
    <p:sldId id="269" r:id="rId18"/>
    <p:sldId id="270" r:id="rId19"/>
    <p:sldId id="276" r:id="rId20"/>
    <p:sldId id="275" r:id="rId21"/>
    <p:sldId id="271" r:id="rId22"/>
    <p:sldId id="274" r:id="rId23"/>
    <p:sldId id="277" r:id="rId24"/>
    <p:sldId id="278" r:id="rId25"/>
    <p:sldId id="279" r:id="rId26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6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6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6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6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39867fdc9_0_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25" name="Google Shape;125;g2039867fdc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1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39867fdc9_0_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31" name="Google Shape;131;g2039867fdc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1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1" name="Google Shape;1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3" name="Google Shape;1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Final Year Project Proposal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062355" y="3600450"/>
            <a:ext cx="7266940" cy="193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0000"/>
          </a:bodyPr>
          <a:lstStyle/>
          <a:p>
            <a:pPr marL="635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</a:pPr>
            <a:r>
              <a:rPr lang="en-US" altLang="en-US" sz="4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Cricksense</a:t>
            </a:r>
            <a:endParaRPr lang="en-US" altLang="en-US" sz="4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635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</a:pPr>
            <a:r>
              <a:rPr lang="en-US" altLang="en-US" sz="4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AI-Based Cricket Ball Tracking and Bowling Performance Analysis System</a:t>
            </a:r>
            <a:endParaRPr lang="en-US" altLang="en-US" sz="4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635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635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</a:pPr>
            <a:r>
              <a:rPr lang="en-US" sz="2335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Supervised By: Mr </a:t>
            </a:r>
            <a:r>
              <a:rPr lang="en-US" altLang="en-US" sz="2335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Nadeem Khan</a:t>
            </a:r>
            <a:endParaRPr lang="en-US" altLang="en-US" sz="2335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635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</a:pPr>
            <a:r>
              <a:rPr lang="en-US" altLang="en-US" sz="233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Lecturer</a:t>
            </a:r>
            <a:endParaRPr lang="en-US" altLang="en-US" sz="233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6" name="Google Shape;86;p1" descr="Riphah.jpg"/>
          <p:cNvPicPr preferRelativeResize="0"/>
          <p:nvPr/>
        </p:nvPicPr>
        <p:blipFill rotWithShape="1">
          <a:blip r:embed="rId2"/>
          <a:srcRect l="3033" t="4065" r="6926" b="4925"/>
          <a:stretch>
            <a:fillRect/>
          </a:stretch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Project Team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Nadeem ullah(56031)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Muhammad Umair (55779)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charset="0"/>
                <a:cs typeface="Times New Roman" panose="02020603050405020304" charset="0"/>
              </a:rPr>
            </a:fld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Table of Content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ea typeface="Open Sans" panose="020B0606030504020204" pitchFamily="34" charset="0"/>
                <a:cs typeface="Times New Roman" panose="02020603050405020304" charset="0"/>
                <a:sym typeface="+mn-ea"/>
              </a:rPr>
              <a:t>Introduction and Background</a:t>
            </a:r>
            <a:endParaRPr lang="en-US" sz="2400" dirty="0">
              <a:latin typeface="Times New Roman" panose="02020603050405020304" charset="0"/>
              <a:ea typeface="Open Sans" panose="020B0606030504020204" pitchFamily="34" charset="0"/>
              <a:cs typeface="Times New Roman" panose="02020603050405020304" charset="0"/>
            </a:endParaRP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ea typeface="Open Sans" panose="020B0606030504020204" pitchFamily="34" charset="0"/>
                <a:cs typeface="Times New Roman" panose="02020603050405020304" charset="0"/>
                <a:sym typeface="+mn-ea"/>
              </a:rPr>
              <a:t>Literature Review and Summary Table</a:t>
            </a:r>
            <a:endParaRPr lang="en-US" sz="2400" dirty="0">
              <a:latin typeface="Times New Roman" panose="02020603050405020304" charset="0"/>
              <a:ea typeface="Open Sans" panose="020B0606030504020204" pitchFamily="34" charset="0"/>
              <a:cs typeface="Times New Roman" panose="02020603050405020304" charset="0"/>
            </a:endParaRP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ea typeface="Open Sans" panose="020B0606030504020204" pitchFamily="34" charset="0"/>
                <a:cs typeface="Times New Roman" panose="02020603050405020304" charset="0"/>
                <a:sym typeface="+mn-ea"/>
              </a:rPr>
              <a:t>Gap Analysis</a:t>
            </a:r>
            <a:endParaRPr lang="en-US" sz="2400" dirty="0">
              <a:latin typeface="Times New Roman" panose="02020603050405020304" charset="0"/>
              <a:ea typeface="Open Sans" panose="020B0606030504020204" pitchFamily="34" charset="0"/>
              <a:cs typeface="Times New Roman" panose="02020603050405020304" charset="0"/>
            </a:endParaRP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ea typeface="Open Sans" panose="020B0606030504020204" pitchFamily="34" charset="0"/>
                <a:cs typeface="Times New Roman" panose="02020603050405020304" charset="0"/>
                <a:sym typeface="+mn-ea"/>
              </a:rPr>
              <a:t>Problem Statement</a:t>
            </a:r>
            <a:endParaRPr lang="en-US" sz="2400" dirty="0">
              <a:latin typeface="Times New Roman" panose="02020603050405020304" charset="0"/>
              <a:ea typeface="Open Sans" panose="020B0606030504020204" pitchFamily="34" charset="0"/>
              <a:cs typeface="Times New Roman" panose="02020603050405020304" charset="0"/>
            </a:endParaRP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ea typeface="Open Sans" panose="020B0606030504020204" pitchFamily="34" charset="0"/>
                <a:cs typeface="Times New Roman" panose="02020603050405020304" charset="0"/>
                <a:sym typeface="+mn-ea"/>
              </a:rPr>
              <a:t>Proposed Solution &amp; Methodology</a:t>
            </a:r>
            <a:endParaRPr lang="en-US" sz="2400" dirty="0">
              <a:latin typeface="Times New Roman" panose="02020603050405020304" charset="0"/>
              <a:ea typeface="Open Sans" panose="020B0606030504020204" pitchFamily="34" charset="0"/>
              <a:cs typeface="Times New Roman" panose="02020603050405020304" charset="0"/>
            </a:endParaRP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ea typeface="Open Sans" panose="020B0606030504020204" pitchFamily="34" charset="0"/>
                <a:cs typeface="Times New Roman" panose="02020603050405020304" charset="0"/>
                <a:sym typeface="+mn-ea"/>
              </a:rPr>
              <a:t>Project Scope</a:t>
            </a:r>
            <a:endParaRPr lang="en-US" sz="2400" dirty="0">
              <a:latin typeface="Times New Roman" panose="02020603050405020304" charset="0"/>
              <a:ea typeface="Open Sans" panose="020B0606030504020204" pitchFamily="34" charset="0"/>
              <a:cs typeface="Times New Roman" panose="02020603050405020304" charset="0"/>
            </a:endParaRP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ea typeface="Open Sans" panose="020B0606030504020204" pitchFamily="34" charset="0"/>
                <a:cs typeface="Times New Roman" panose="02020603050405020304" charset="0"/>
                <a:sym typeface="+mn-ea"/>
              </a:rPr>
              <a:t>Work Breakdown Structure</a:t>
            </a:r>
            <a:endParaRPr lang="en-US" sz="2400" dirty="0">
              <a:latin typeface="Times New Roman" panose="02020603050405020304" charset="0"/>
              <a:ea typeface="Open Sans" panose="020B0606030504020204" pitchFamily="34" charset="0"/>
              <a:cs typeface="Times New Roman" panose="02020603050405020304" charset="0"/>
              <a:sym typeface="+mn-ea"/>
            </a:endParaRP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>
                <a:sym typeface="+mn-ea"/>
              </a:rPr>
              <a:t>Constraints &amp; Limitations</a:t>
            </a:r>
            <a:endParaRPr lang="en-US" sz="2400"/>
          </a:p>
          <a:p>
            <a:pPr marL="203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None/>
            </a:pP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charset="0"/>
                <a:cs typeface="Times New Roman" panose="02020603050405020304" charset="0"/>
              </a:rPr>
            </a:fld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1537335" y="2314575"/>
            <a:ext cx="606933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Times New Roman" panose="02020603050405020304" charset="0"/>
                <a:cs typeface="Times New Roman" panose="02020603050405020304" charset="0"/>
              </a:rPr>
              <a:t>Introduction &amp; Background</a:t>
            </a:r>
            <a:endParaRPr lang="en-US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70000"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44735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 And Background</a:t>
            </a:r>
            <a:endParaRPr lang="en-US" sz="3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457200" y="1889125"/>
            <a:ext cx="8229600" cy="396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3020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Bowling depends on speed, swing, line, length, accuracy, and consistency.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3020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We see normal cricket players don't use LBW because they don't have the technology for it.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3020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Bowler dependend on coach for bowling analysis.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3020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CrickSense uses a smartphone camera and AI to track the ball.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3020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Analyzes speed, swing, line, length, pitch, and trajectory.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3020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Provides potential LBW analysis using ball, pad, and wicket position.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3020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Generates Delivery Quality &amp; Wicket Threat Scores with AI feedback.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3020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Stores session history to track player progress.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charset="0"/>
                <a:cs typeface="Times New Roman" panose="02020603050405020304" charset="0"/>
              </a:rPr>
            </a:fld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685483" y="227076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Times New Roman" panose="02020603050405020304" charset="0"/>
                <a:cs typeface="Times New Roman" panose="02020603050405020304" charset="0"/>
              </a:rPr>
              <a:t>Litrature Review</a:t>
            </a:r>
            <a:endParaRPr lang="en-US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70000"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ym typeface="+mn-ea"/>
              </a:rPr>
              <a:t>Benchmarking</a:t>
            </a:r>
            <a:endParaRPr lang="en-US" sz="3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charset="0"/>
                <a:cs typeface="Times New Roman" panose="02020603050405020304" charset="0"/>
              </a:rPr>
            </a:fld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256665"/>
          <a:ext cx="8511540" cy="4489450"/>
        </p:xfrm>
        <a:graphic>
          <a:graphicData uri="http://schemas.openxmlformats.org/drawingml/2006/table">
            <a:tbl>
              <a:tblPr/>
              <a:tblGrid>
                <a:gridCol w="2265045"/>
                <a:gridCol w="1139825"/>
                <a:gridCol w="1139825"/>
                <a:gridCol w="1139190"/>
                <a:gridCol w="1139825"/>
                <a:gridCol w="1687830"/>
              </a:tblGrid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Functionality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Matcha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Kricket.ai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CrickX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Fulltrack AI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CrickSense (proposed)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Ball Tracking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Ball Speed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Ball Movement / Trajectory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Line &amp; Length Analysis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Swing / Deviation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Pitch Location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Delivery Quality Score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Wicket Threat Score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Potential LBW Analysis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✓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✓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AI Explanation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AI Recommendations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300" dirty="0">
                        <a:solidFill>
                          <a:srgbClr val="9AA0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Session History &amp; Comparison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Bowler fingerprint</a:t>
                      </a:r>
                      <a:endParaRPr lang="en-US" sz="1200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  <a:sym typeface="+mn-ea"/>
                        </a:rPr>
                        <a:t>—</a:t>
                      </a:r>
                      <a:endParaRPr lang="en-US" sz="1100" b="1" dirty="0">
                        <a:solidFill>
                          <a:srgbClr val="B8860B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  <a:sym typeface="+mn-ea"/>
                        </a:rPr>
                        <a:t>—</a:t>
                      </a:r>
                      <a:endParaRPr lang="en-US" sz="1100" b="1" dirty="0">
                        <a:solidFill>
                          <a:srgbClr val="B8860B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  <a:sym typeface="+mn-ea"/>
                        </a:rPr>
                        <a:t>—</a:t>
                      </a:r>
                      <a:endParaRPr lang="en-US" sz="1100" b="1" dirty="0">
                        <a:solidFill>
                          <a:srgbClr val="B8860B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0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  <a:sym typeface="+mn-ea"/>
                        </a:rPr>
                        <a:t>—</a:t>
                      </a:r>
                      <a:endParaRPr lang="en-US" sz="1100" b="1" dirty="0">
                        <a:solidFill>
                          <a:srgbClr val="B8860B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300" b="1" dirty="0">
                        <a:solidFill>
                          <a:srgbClr val="1E8E3E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039867fdc9_0_11"/>
          <p:cNvSpPr txBox="1">
            <a:spLocks noGrp="1"/>
          </p:cNvSpPr>
          <p:nvPr>
            <p:ph type="title"/>
          </p:nvPr>
        </p:nvSpPr>
        <p:spPr>
          <a:xfrm>
            <a:off x="881063" y="2066925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Times New Roman" panose="02020603050405020304" charset="0"/>
                <a:cs typeface="Times New Roman" panose="02020603050405020304" charset="0"/>
              </a:rPr>
              <a:t>Gap Analysis</a:t>
            </a:r>
            <a:endParaRPr lang="en-US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039867fdc9_0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Gap Analysis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4" name="Google Shape;134;g2039867fdc9_0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Professional review systems (DRS, advanced LBW analysis) are expensive and inaccessible to amateur/practice players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Existing consumer cricket apps show measurements but don't explain why a delivery succeeded/failed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No affordable, camera-only solution combines: ball tracking + scoring + AI-based coaching feedback + session comparison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CrickSense fills this gap with a low-cost, smartphone-based, explainable AI approach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charset="0"/>
                <a:cs typeface="Times New Roman" panose="02020603050405020304" charset="0"/>
              </a:rPr>
            </a:fld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707708" y="2066925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Problem Statment</a:t>
            </a:r>
            <a:endParaRPr lang="en-US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Problem Statment</a:t>
            </a:r>
            <a:endParaRPr lang="en-US" sz="3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46" name="Google Shape;146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Developing bowlers lack access to professional analysis tools due to high cost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They rely on subjective coach/self-observation to identify issues in speed, line, length, swing, and consistency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This makes it difficult to accurately diagnose weaknesses or measure improvement over time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Need: an affordable, automated, and explainable bowling analysis system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Many of local player didn’t add LBW rules due to lack of tecnologies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charset="0"/>
                <a:cs typeface="Times New Roman" panose="02020603050405020304" charset="0"/>
              </a:rPr>
            </a:fld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>
            <a:spLocks noGrp="1"/>
          </p:cNvSpPr>
          <p:nvPr>
            <p:ph type="title"/>
          </p:nvPr>
        </p:nvSpPr>
        <p:spPr>
          <a:xfrm>
            <a:off x="685483" y="2228215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en-US" sz="4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Proposed Solution &amp; Methodology</a:t>
            </a:r>
            <a:endParaRPr lang="en-US" altLang="en-US" sz="4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Proposed Solution and Methodology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8" name="Google Shape;158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Smartphone camera fixed behind the bowler/stumps captures deliveries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Computer Vision pipeline detects and tracks the ball across frames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System computes: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ball speed, swing/deviation, line, length, pitch location, trajectory, and consistency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Derived metrics: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Delivery Quality Score, Wicket Threat Score, potential LBW analysis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AI analysis layer converts raw metrics into plain-language feedback and improvement suggestions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Mobile application front-end displays results and historical session comparisons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charset="0"/>
                <a:cs typeface="Times New Roman" panose="02020603050405020304" charset="0"/>
              </a:rPr>
            </a:fld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Methodology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324610"/>
            <a:ext cx="8229600" cy="4525963"/>
          </a:xfrm>
        </p:spPr>
        <p:txBody>
          <a:bodyPr/>
          <a:p>
            <a:pPr marL="114300" indent="0" algn="ctr"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Cricksense(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workflow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charset="0"/>
                <a:cs typeface="Times New Roman" panose="02020603050405020304" charset="0"/>
              </a:rPr>
            </a:fld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286000" y="6158230"/>
            <a:ext cx="4572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 descr="ChatGPT Image Sep 17, 2026, 10_49_10 AM"/>
          <p:cNvPicPr>
            <a:picLocks noChangeAspect="1"/>
          </p:cNvPicPr>
          <p:nvPr/>
        </p:nvPicPr>
        <p:blipFill>
          <a:blip r:embed="rId1"/>
          <a:srcRect t="20153" r="-3319"/>
          <a:stretch>
            <a:fillRect/>
          </a:stretch>
        </p:blipFill>
        <p:spPr>
          <a:xfrm>
            <a:off x="153035" y="2150110"/>
            <a:ext cx="8990965" cy="34740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>
            <a:spLocks noGrp="1"/>
          </p:cNvSpPr>
          <p:nvPr>
            <p:ph type="title"/>
          </p:nvPr>
        </p:nvSpPr>
        <p:spPr>
          <a:xfrm>
            <a:off x="1010603" y="22860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Times New Roman" panose="02020603050405020304" charset="0"/>
                <a:cs typeface="Times New Roman" panose="02020603050405020304" charset="0"/>
              </a:rPr>
              <a:t>Project Scope</a:t>
            </a:r>
            <a:endParaRPr lang="en-US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Project Scope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In scope: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real-time video processing, ball tracking, bowling performance measurement, pad/wicket analysis, delivery scoring, AI feedback, bowler profile, session management, performance tracking, best-delivery identification, automated reports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Core features: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ball detection/tracking, speed estimation, swing analysis, line/length analysis, pitch map, trajectory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4610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Advanced features: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Quality/Threat/Consistency scores, Bowler Fingerprint, Best Delivery Finder with auto-clip, LBW analysis, AI recommendations, session history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charset="0"/>
                <a:cs typeface="Times New Roman" panose="02020603050405020304" charset="0"/>
              </a:rPr>
            </a:fld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b="1" dirty="0">
                <a:latin typeface="Times New Roman" panose="02020603050405020304" charset="0"/>
                <a:ea typeface="Open Sans" panose="020B0606030504020204" pitchFamily="34" charset="0"/>
                <a:cs typeface="Times New Roman" panose="02020603050405020304" charset="0"/>
                <a:sym typeface="+mn-ea"/>
              </a:rPr>
              <a:t>Work Breakdown Structure</a:t>
            </a:r>
            <a:endParaRPr lang="en-US" b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247900" y="6120765"/>
            <a:ext cx="546735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dirty="0">
                <a:latin typeface="Times New Roman" panose="02020603050405020304" charset="0"/>
                <a:ea typeface="Open Sans" panose="020B0606030504020204" pitchFamily="34" charset="0"/>
                <a:cs typeface="Times New Roman" panose="02020603050405020304" charset="0"/>
                <a:sym typeface="+mn-ea"/>
              </a:rPr>
              <a:t>Work Breakdown Structure</a:t>
            </a:r>
            <a:endParaRPr lang="en-US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6" name="Picture 5" descr="ChatGPT Image Sep 17, 2026, 07_01_29 PM"/>
          <p:cNvPicPr>
            <a:picLocks noChangeAspect="1"/>
          </p:cNvPicPr>
          <p:nvPr/>
        </p:nvPicPr>
        <p:blipFill>
          <a:blip r:embed="rId1"/>
          <a:srcRect t="3523" r="640" b="5432"/>
          <a:stretch>
            <a:fillRect/>
          </a:stretch>
        </p:blipFill>
        <p:spPr>
          <a:xfrm>
            <a:off x="579120" y="1600200"/>
            <a:ext cx="7985760" cy="411861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457450" y="6120765"/>
            <a:ext cx="550481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title"/>
          </p:nvPr>
        </p:nvSpPr>
        <p:spPr>
          <a:xfrm>
            <a:off x="1010603" y="232918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/>
              <a:t>Constraints &amp; Limitations</a:t>
            </a:r>
            <a:endParaRPr lang="en-US" sz="4400"/>
          </a:p>
        </p:txBody>
      </p:sp>
      <p:sp>
        <p:nvSpPr>
          <p:cNvPr id="116" name="Google Shape;116;p6"/>
          <p:cNvSpPr txBox="1">
            <a:spLocks noGrp="1"/>
          </p:cNvSpPr>
          <p:nvPr/>
        </p:nvSpPr>
        <p:spPr>
          <a:xfrm>
            <a:off x="2237740" y="6338570"/>
            <a:ext cx="5319395" cy="5194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Constraints and Limitations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341120"/>
            <a:ext cx="4038600" cy="4435475"/>
          </a:xfrm>
        </p:spPr>
        <p:txBody>
          <a:bodyPr/>
          <a:p>
            <a:pPr marL="50800" indent="0" algn="just"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System Limitations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Accuracy depends on good lighting and clear background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Motion blur at high ball speeds can affect precision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Wicket Threat/LBW scores are estimates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Model performance limited by training data variety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Intended to support match-play LBW review, but not a replacement for official DRS technology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>
          <a:xfrm>
            <a:off x="4648200" y="1417955"/>
            <a:ext cx="4038600" cy="4525963"/>
          </a:xfrm>
        </p:spPr>
        <p:txBody>
          <a:bodyPr/>
          <a:p>
            <a:pPr marL="50800" indent="0" algn="just"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Constraints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Single fixed camera (no multi-camera setup like Hawk-Eye)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No access to professional broadcast footage/datasets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No budget for radar or motion-capture equipment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charset="0"/>
                <a:cs typeface="Times New Roman" panose="02020603050405020304" charset="0"/>
              </a:rPr>
            </a:fld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895600" y="6120765"/>
            <a:ext cx="542925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230880" y="1420495"/>
            <a:ext cx="5665470" cy="2643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Nadeem ullah – Team Leader &amp; Developer</a:t>
            </a:r>
            <a:endParaRPr sz="1800" u="none" strike="noStrike" cap="none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BS Computer Science</a:t>
            </a:r>
            <a:b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</a:br>
            <a: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Riphah International University, Islamabad</a:t>
            </a:r>
            <a:endParaRPr u="none" strike="noStrike" cap="none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Contact No.: +92 3185201218</a:t>
            </a:r>
            <a:endParaRPr u="none" strike="noStrike" cap="none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800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Email Address: 56031@students.riphah.edu.pk</a:t>
            </a:r>
            <a:endParaRPr sz="1800" u="none" strike="noStrike" cap="none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u="none" strike="noStrike" cap="none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Contribution(s)</a:t>
            </a:r>
            <a:endParaRPr u="none" strike="noStrike" cap="none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Char char="•"/>
            </a:pPr>
            <a: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Selected and responsible for the Backend, Model train Database.</a:t>
            </a:r>
            <a:endParaRPr u="none" strike="noStrike" cap="none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Char char="•"/>
            </a:pPr>
            <a: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Selected and responsible for the Integration of the Backend and Database.</a:t>
            </a:r>
            <a:endParaRPr u="none" strike="noStrike" cap="none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marR="0" lvl="0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lang="en-US" u="none" strike="noStrike" cap="none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WhatsApp Image 2026-09-17 at 8.22.02 PM"/>
          <p:cNvPicPr>
            <a:picLocks noChangeAspect="1"/>
          </p:cNvPicPr>
          <p:nvPr/>
        </p:nvPicPr>
        <p:blipFill>
          <a:blip r:embed="rId1"/>
          <a:srcRect l="8507" t="27620" r="8734" b="8816"/>
          <a:stretch>
            <a:fillRect/>
          </a:stretch>
        </p:blipFill>
        <p:spPr>
          <a:xfrm>
            <a:off x="1601470" y="1420495"/>
            <a:ext cx="1572260" cy="16103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505200" y="474980"/>
            <a:ext cx="21329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Roles</a:t>
            </a:r>
            <a:endParaRPr lang="en-US" sz="3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686050" y="6120765"/>
            <a:ext cx="538988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060700" y="1366520"/>
            <a:ext cx="4572000" cy="2929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Muhammad Umair – Developer</a:t>
            </a:r>
            <a:endParaRPr sz="1800" u="none" strike="noStrike" cap="none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BS Computer Science</a:t>
            </a:r>
            <a:b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</a:br>
            <a: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Riphah International University, Islamabad</a:t>
            </a:r>
            <a:endParaRPr u="none" strike="noStrike" cap="none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Contact No.: +92 3165366937</a:t>
            </a:r>
            <a:endParaRPr u="none" strike="noStrike" cap="none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800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Email Address: 55779@students.riphah.edu.pk</a:t>
            </a:r>
            <a:endParaRPr sz="1800" u="none" strike="noStrike" cap="none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u="none" strike="noStrike" cap="none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Contribution(s)</a:t>
            </a:r>
            <a:endParaRPr u="none" strike="noStrike" cap="none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Char char="•"/>
            </a:pPr>
            <a: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Selected and responsible for the Frontend Application Development and help to Train Dataset. </a:t>
            </a:r>
            <a:endParaRPr lang="en-US" b="0" i="0" u="none" strike="noStrike" cap="none">
              <a:solidFill>
                <a:srgbClr val="000000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Char char="•"/>
            </a:pPr>
            <a:r>
              <a:rPr lang="en-US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Selected and responsible for the Application Integration.</a:t>
            </a:r>
            <a:endParaRPr lang="en-US" b="0" i="0" u="none" strike="noStrike" cap="none">
              <a:solidFill>
                <a:srgbClr val="000000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  <a:p>
            <a:pPr marL="342900" marR="0" lvl="0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lang="en-US" b="0" i="0" u="none" strike="noStrike" cap="none">
              <a:solidFill>
                <a:srgbClr val="000000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429000" y="515620"/>
            <a:ext cx="228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Roles</a:t>
            </a:r>
            <a:endParaRPr lang="en-US" sz="3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647950" y="6120765"/>
            <a:ext cx="5334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  <p:pic>
        <p:nvPicPr>
          <p:cNvPr id="6" name="Picture 5" descr="WhatsApp Image 2026-09-17 at 8.58.16 PM"/>
          <p:cNvPicPr>
            <a:picLocks noChangeAspect="1"/>
          </p:cNvPicPr>
          <p:nvPr/>
        </p:nvPicPr>
        <p:blipFill>
          <a:blip r:embed="rId1"/>
          <a:srcRect l="14818" t="31038" r="9968"/>
          <a:stretch>
            <a:fillRect/>
          </a:stretch>
        </p:blipFill>
        <p:spPr>
          <a:xfrm>
            <a:off x="1529080" y="1366520"/>
            <a:ext cx="1531620" cy="15659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14650" y="1446530"/>
            <a:ext cx="33153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Thank You</a:t>
            </a:r>
            <a:endParaRPr lang="en-US" sz="3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899285" y="2777490"/>
            <a:ext cx="5346065" cy="1004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641350" lvl="1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400"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Any Suggestions !</a:t>
            </a:r>
            <a:endParaRPr lang="en-US" sz="4400"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895600" y="6120765"/>
            <a:ext cx="534606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AI-Based Criket Ball Tracking and Bowing Performance Analysis System</a:t>
            </a:r>
            <a:endParaRPr lang="en-US" altLang="en-US">
              <a:solidFill>
                <a:schemeClr val="bg1"/>
              </a:solidFill>
            </a:endParaRPr>
          </a:p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6157</Words>
  <Application>WPS Presentation</Application>
  <PresentationFormat>On-screen Show (4:3)</PresentationFormat>
  <Paragraphs>397</Paragraphs>
  <Slides>23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Arial</vt:lpstr>
      <vt:lpstr>SimSun</vt:lpstr>
      <vt:lpstr>Wingdings</vt:lpstr>
      <vt:lpstr>Arial</vt:lpstr>
      <vt:lpstr>Calibri</vt:lpstr>
      <vt:lpstr>Times New Roman</vt:lpstr>
      <vt:lpstr>Open Sans</vt:lpstr>
      <vt:lpstr>Segoe Print</vt:lpstr>
      <vt:lpstr>Calibri</vt:lpstr>
      <vt:lpstr>Calibri</vt:lpstr>
      <vt:lpstr>Microsoft YaHei</vt:lpstr>
      <vt:lpstr>Arial Unicode MS</vt:lpstr>
      <vt:lpstr>Open Sans</vt:lpstr>
      <vt:lpstr>Noto Sans Symbols</vt:lpstr>
      <vt:lpstr>Office Theme</vt:lpstr>
      <vt:lpstr>Final Year Project Proposal</vt:lpstr>
      <vt:lpstr>Project Team</vt:lpstr>
      <vt:lpstr>Table of Content</vt:lpstr>
      <vt:lpstr>Introduction &amp; Background</vt:lpstr>
      <vt:lpstr>Introduction And Background</vt:lpstr>
      <vt:lpstr>Litrature Review</vt:lpstr>
      <vt:lpstr>Benchmarking</vt:lpstr>
      <vt:lpstr>Gap Analysis</vt:lpstr>
      <vt:lpstr>Gap Analysis</vt:lpstr>
      <vt:lpstr>Problem Statment</vt:lpstr>
      <vt:lpstr>Problem Statment</vt:lpstr>
      <vt:lpstr>Proposed Solution &amp; Methodology</vt:lpstr>
      <vt:lpstr>Proposed Solution and Methodology</vt:lpstr>
      <vt:lpstr>Methodology</vt:lpstr>
      <vt:lpstr>Project Scope</vt:lpstr>
      <vt:lpstr>Project Scope</vt:lpstr>
      <vt:lpstr>Work Breakdown Structure</vt:lpstr>
      <vt:lpstr>Work Breakdown Structure</vt:lpstr>
      <vt:lpstr>Constraints &amp; Limitations</vt:lpstr>
      <vt:lpstr>Constraints and Limitations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WPS_1776962780</cp:lastModifiedBy>
  <cp:revision>23</cp:revision>
  <dcterms:created xsi:type="dcterms:W3CDTF">2013-01-22T07:04:00Z</dcterms:created>
  <dcterms:modified xsi:type="dcterms:W3CDTF">2026-09-18T16:05:42Z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F9F6A2C383B647EAB5BBB55AC807063B_12</vt:lpwstr>
  </property>
</Properties>
</file>